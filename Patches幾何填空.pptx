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5" r:id="rId10"/>
    <p:sldId id="269" r:id="rId11"/>
    <p:sldId id="264" r:id="rId12"/>
    <p:sldId id="270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5:37.2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3:54.3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24263,'48'5345'0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4:08.3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5281 3250 24575,'2'0'0,"0"-1"0,1 1 0,-1-1 0,0 1 0,0-1 0,0 0 0,0 1 0,0-1 0,0 0 0,0-1 0,0 1 0,0 0 0,-1 0 0,1-1 0,0 1 0,-1-1 0,1 0 0,-1 1 0,0-1 0,1 0 0,-1 0 0,0 0 0,0 0 0,0 0 0,0 0 0,-1 0 0,1 0 0,0 0 0,-1 0 0,1 0 0,-1-4 0,2-11 0,0 1 0,-1 0 0,-2-22 0,0 17 0,1-148 0,-39-292 0,-37-73 0,44-3 0,31 511 0,-2 1 0,-1 0 0,-12-48 0,9 48 0,1 0 0,1 0 0,-2-47 0,5 30 0,-8-48 0,-2-39 0,10 99 0,-10-54 0,2 24 0,4 30 0,0 1 0,-15-38 0,-2-10 0,22 76 0,-58-204 0,50 180 0,-1 0 0,-1 1 0,-1 1 0,-2 0 0,0 1 0,-18-22 0,26 38 0,-1-1 0,0 1 0,0 1 0,-1 0 0,1 0 0,-1 0 0,0 1 0,-1 0 0,1 1 0,-1-1 0,1 2 0,-1-1 0,0 1 0,0 1 0,0 0 0,-11-1 0,-18 1 0,0 2 0,-57 8 0,88-8 0,-62 12 0,1 3 0,1 2 0,-101 44 0,42-15 0,-215 85 0,291-108 0,1 2 0,1 3 0,2 1 0,-70 59 0,-10 31 0,4 5 0,6 6 0,6 5 0,-106 170 0,46-25 0,-172 385 0,134-140 0,172-430 0,-36 79 0,-166 291 0,-363 486 0,359-643 0,161-203 0,5-3 0,-139 144 0,180-207 0,-9 9 0,-62 26 0,-1 0 0,48-38 85,49-33-292,0 2-1,1-1 1,0 1 0,0 0 0,0 1 0,-7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4:17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23892,'2661'170'0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4:31.9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849 5009 24575,'69'-117'0,"-20"36"0,45-80 0,-1 3 0,86-200 0,-168 329 0,-2-1 0,0 0 0,-2-1 0,-2 0 0,3-41 0,-7-157 0,-3 109 0,-13-221 0,-17 114 0,27 157 0,3 32 0,-7-42 0,-27-187 0,25 189 0,-2 0 0,-5 1 0,-27-76 0,42 142 0,-1-1 0,-1 1 0,0 0 0,0 1 0,-1-1 0,0 1 0,-13-15 0,15 20 0,0 1 0,-1 0 0,1 0 0,-1 1 0,1 0 0,-1-1 0,0 1 0,0 1 0,-1-1 0,1 1 0,-1 0 0,1 0 0,-1 1 0,1-1 0,-1 1 0,0 1 0,-8-1 0,-12-1 0,1 2 0,-1 0 0,0 2 0,0 1 0,1 0 0,-1 3 0,1 0 0,0 1 0,-38 17 0,59-22 0,-75 37 0,-75 50 0,150-87 0,0 1 0,0-1 0,0 0 0,0-1 0,0 1 0,-1-1 0,1 0 0,0 0 0,-1 0 0,1-1 0,0 1 0,-1-1 0,1 0 0,-1 0 0,1-1 0,0 1 0,-1-1 0,1 0 0,0 0 0,-1-1 0,1 1 0,0-1 0,0 0 0,0 0 0,0 0 0,-4-4 0,-4-3 0,0 0 0,0-1 0,1-1 0,0 0 0,1-1 0,-11-15 0,-14-10 0,29 32 0,0-1 0,0 0 0,1 0 0,0 0 0,-8-13 0,-18-44 0,2-2 0,4-1 0,2 0 0,3-2 0,-18-120 0,-13-352 0,50 512 0,-9-649-43,11 432-1279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4:40.4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9796 73 24575,'-137'-3'0,"-158"-22"0,128 3 0,-215-1 0,-653 24 0,953 3 0,-155 28 0,20 0 0,44-16 0,-708 45 0,450-48 0,2 35 0,-725 196 0,813-166 0,-503 122 0,-195 42 0,525-156 0,142-27 0,231-29 0,-214 77 0,333-100 0,1 1 0,0 1 0,0 1 0,1 0 0,0 2 0,1 0 0,1 1 0,0 1 0,-26 27 0,3 5 0,-1-1 0,-3-2 0,-1-2 0,-75 51 0,70-67-1365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4:44.4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5131 875 24575,'-681'52'0,"546"-34"0,-1131 169 0,439-65 0,724-109 0,-203 15 0,49-6 0,84-8 0,-276-11 0,430-5 0,0 0 0,-1-1 0,2-1 0,-1-1 0,-26-11 0,-85-45 0,85 38 0,-57-22 0,27 14 0,1-3 0,1-4 0,-117-81 0,181 112 0,1 0 0,-1-1 0,2 1 0,-1-2 0,1 1 0,0-1 0,0 0 0,1 0 0,1-1 0,0 0 0,0 0 0,-5-17 0,7 21 0,1-1 0,0 0 0,1 0 0,-1 0 0,1 0 0,1 0 0,-1 0 0,1 0 0,1 0 0,-1 0 0,1 0 0,0 0 0,1 0 0,-1 0 0,2 0 0,-1 0 0,1 1 0,0-1 0,0 1 0,5-8 0,5-1 0,0 1 0,0 0 0,1 1 0,1 0 0,0 2 0,1-1 0,0 2 0,1 0 0,0 1 0,1 1 0,-1 0 0,2 2 0,24-7 0,22-1 0,2 3 0,103-4 0,-28 3 0,533-89 0,-101 13 0,1575-63 0,-1089 138 0,4-60 0,-475 37 0,-2 40 0,-543-3 0,322 11 0,159 1 0,388 14 0,-628 2 0,-141-12 0,188 6 0,-254-25-341,0 4 0,0 3-1,115 22 1,-167-20-6485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4:46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0 123 24575,'866'-61'0,"-216"5"0,-575 53 0,305 0 0,-296 17 0,-63-9 0,0-1 0,38 1 0,398-6-1365,-412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5:03.7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2927 3286 24575,'11'-161'0,"-1"27"0,-5-888 0,-7 558 0,-2 411 0,-1 0 0,-3 1 0,-27-92 0,-7-51 0,40 188 0,-9-70 0,-4-130 0,14 190 0,-1 0 0,0-1 0,-5-16 0,-5-46 0,13-81 0,-2-65 0,0 222 0,0 0 0,0 0 0,0 1 0,0-1 0,-1 0 0,1 1 0,-1-1 0,0 1 0,0-1 0,0 1 0,0 0 0,-1 0 0,1 0 0,-1 0 0,0 0 0,0 0 0,0 1 0,0 0 0,-1-1 0,1 1 0,-7-3 0,-10-3 0,1 0 0,-1 2 0,-25-6 0,-29-11 0,62 16 0,0 2 0,-1 0 0,0 0 0,0 1 0,-21-4 0,26 8 0,1-1 0,0 1 0,0 1 0,0-1 0,0 1 0,0 1 0,0-1 0,0 1 0,0 0 0,0 1 0,1-1 0,-10 6 0,2 1 0,1 0 0,0 0 0,0 1 0,1 1 0,0 0 0,-17 22 0,-56 86 0,61-83 0,-238 402 0,251-416 0,1 1 0,1 1 0,1 0 0,2 0 0,0 0 0,1 1 0,-1 30 0,4 181 0,5-118 0,0-4 0,4 0 0,6 0 0,39 163 0,453 1364 0,-493-1610 0,-4-15 0,-2 0 0,0 1 0,-1-1 0,-1 1 0,0 0 0,-1 0 0,-1 1 0,0 24 0,-4 117 0,34 298 0,27 537 0,-35-145 0,-17 315 0,-9-658 0,3-355 0,-3 171 0,-1-297 0,0 0 0,-2-1 0,-11 37 0,-4 15 0,19-70 0,-1 0 0,0-1 0,0 1 0,0 0 0,0-1 0,-1 0 0,0 1 0,0-1 0,-1 0 0,1-1 0,-1 1 0,0 0 0,-1-1 0,1 0 0,-1 0 0,-8 5 0,-4 1 0,-1-1 0,0 0 0,-32 10 0,15-6 0,16-8 0,0-1 0,1 0 0,-2-1 0,1-1 0,0-1 0,0 0 0,-24-3 0,19 0 0,1 2 0,-1 1 0,0 1 0,-24 5 0,1 1 0,-1-1 0,0-3 0,-62-2 0,-33 2 0,-728 12 0,562-18 0,-115 2-1365,404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5:12.4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2443 0 24515,'-2443'2177'0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05:22.1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13:13:17.9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34461 7884 16383 0 0,'0'-6'0'0'0,"0"-12"0"0"0,0-15 0 0 0,0-13 0 0 0,0-3 0 0 0,6 0 0 0 0,1-30 0 0 0,0-12 0 0 0,4-3 0 0 0,1 10 0 0 0,-3 8 0 0 0,4 11 0 0 0,-1 6 0 0 0,-3 8 0 0 0,-2 6 0 0 0,-3 5 0 0 0,-2 5 0 0 0,-1 2 0 0 0,-1 1 0 0 0,5 1 0 0 0,2 0 0 0 0,0 0 0 0 0,-2-1 0 0 0,-1 0 0 0 0,-2 0 0 0 0,5-1 0 0 0,1 1 0 0 0,-1-1 0 0 0,-2-5 0 0 0,-1-8 0 0 0,-2-1 0 0 0,-1-3 0 0 0,-1 0 0 0 0,0 4 0 0 0,6-2 0 0 0,1 2 0 0 0,-1 4 0 0 0,0 2 0 0 0,-2-2 0 0 0,-2 0 0 0 0,5 2 0 0 0,1 2 0 0 0,-1 2 0 0 0,-2 2 0 0 0,-1-5 0 0 0,-2-6 0 0 0,-1-8 0 0 0,0 1 0 0 0,-2-8 0 0 0,1-4 0 0 0,0 2 0 0 0,0 7 0 0 0,-1 7 0 0 0,1 6 0 0 0,0 5 0 0 0,0 3 0 0 0,0 1 0 0 0,0 2 0 0 0,0-6 0 0 0,0-7 0 0 0,0-7 0 0 0,0-1 0 0 0,0-3 0 0 0,0-2 0 0 0,0 2 0 0 0,0 0 0 0 0,0 3 0 0 0,0 0 0 0 0,0 3 0 0 0,0 5 0 0 0,0 3 0 0 0,0 4 0 0 0,-5-3 0 0 0,-3 0 0 0 0,1-5 0 0 0,1-5 0 0 0,-3 0 0 0 0,-1-3 0 0 0,2-3 0 0 0,1 3 0 0 0,3 4 0 0 0,2 5 0 0 0,-4 5 0 0 0,-2 3 0 0 0,1 2 0 0 0,2 2 0 0 0,1 0 0 0 0,-3 6 0 0 0,-2 2 0 0 0,2-1 0 0 0,1-1 0 0 0,3-3 0 0 0,0-1 0 0 0,-3-1 0 0 0,-2-1 0 0 0,1 0 0 0 0,-4 4 0 0 0,0 3 0 0 0,2-1 0 0 0,3-1 0 0 0,1-2 0 0 0,3-1 0 0 0,1-1 0 0 0,0-2 0 0 0,-4 6 0 0 0,-2 2 0 0 0,1-1 0 0 0,1-1 0 0 0,1-2 0 0 0,1-1 0 0 0,2-1 0 0 0,1-1 0 0 0,0-7 0 0 0,0-1 0 0 0,0 0 0 0 0,-5 7 0 0 0,-2 4 0 0 0,0 1 0 0 0,1-1 0 0 0,-3 0 0 0 0,-1-1 0 0 0,2-1 0 0 0,2-1 0 0 0,2 0 0 0 0,1 5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13:13:17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5212 3043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9E05F-214B-4EF6-B186-BA8DEC28184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E7CC5-B923-408E-99C9-61469D25D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6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E7CC5-B923-408E-99C9-61469D25DEA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96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7.xml"/><Relationship Id="rId18" Type="http://schemas.openxmlformats.org/officeDocument/2006/relationships/image" Target="../media/image15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12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24" Type="http://schemas.openxmlformats.org/officeDocument/2006/relationships/image" Target="../media/image17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10" Type="http://schemas.openxmlformats.org/officeDocument/2006/relationships/image" Target="../media/image11.png"/><Relationship Id="rId19" Type="http://schemas.openxmlformats.org/officeDocument/2006/relationships/customXml" Target="../ink/ink10.xml"/><Relationship Id="rId4" Type="http://schemas.openxmlformats.org/officeDocument/2006/relationships/image" Target="../media/image8.png"/><Relationship Id="rId9" Type="http://schemas.openxmlformats.org/officeDocument/2006/relationships/customXml" Target="../ink/ink5.xml"/><Relationship Id="rId14" Type="http://schemas.openxmlformats.org/officeDocument/2006/relationships/image" Target="../media/image13.png"/><Relationship Id="rId2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yu9412/Patches-Game.g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b="1" dirty="0">
                <a:latin typeface="新細明體"/>
                <a:ea typeface="新細明體"/>
              </a:rPr>
              <a:t>Patches幾何填空</a:t>
            </a:r>
            <a:endParaRPr lang="zh-TW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414683" y="4644257"/>
            <a:ext cx="9144000" cy="1655762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 組別 </a:t>
            </a:r>
            <a:r>
              <a:rPr lang="en-US" altLang="zh-TW" sz="2800" dirty="0"/>
              <a:t>:</a:t>
            </a:r>
            <a:r>
              <a:rPr lang="zh-TW" altLang="en-US" sz="2800" dirty="0"/>
              <a:t> 第</a:t>
            </a:r>
            <a:r>
              <a:rPr lang="en-US" altLang="zh-TW" sz="2800" dirty="0"/>
              <a:t>17</a:t>
            </a:r>
            <a:r>
              <a:rPr lang="zh-TW" altLang="en-US" sz="2800" dirty="0"/>
              <a:t>組</a:t>
            </a:r>
            <a:endParaRPr lang="en-US" altLang="zh-TW" sz="2800" dirty="0"/>
          </a:p>
          <a:p>
            <a:r>
              <a:rPr lang="zh-TW" altLang="en-US" sz="2800" dirty="0"/>
              <a:t> 系級 </a:t>
            </a:r>
            <a:r>
              <a:rPr lang="en-US" altLang="zh-TW" sz="2800" dirty="0"/>
              <a:t>:</a:t>
            </a:r>
            <a:r>
              <a:rPr lang="zh-TW" altLang="en-US" sz="2800" dirty="0"/>
              <a:t> 資工</a:t>
            </a:r>
            <a:r>
              <a:rPr lang="en-US" altLang="zh-TW" sz="2800" dirty="0"/>
              <a:t>3B</a:t>
            </a:r>
          </a:p>
          <a:p>
            <a:r>
              <a:rPr lang="zh-TW" altLang="en-US" sz="2800" dirty="0"/>
              <a:t> 組長 </a:t>
            </a:r>
            <a:r>
              <a:rPr lang="en-US" altLang="zh-TW" sz="2800" dirty="0"/>
              <a:t>:</a:t>
            </a:r>
            <a:r>
              <a:rPr lang="zh-TW" altLang="en-US" sz="2800" dirty="0"/>
              <a:t> 鄭立渝</a:t>
            </a:r>
            <a:endParaRPr lang="en-US" altLang="zh-TW" sz="2800" dirty="0"/>
          </a:p>
          <a:p>
            <a:r>
              <a:rPr lang="zh-TW" altLang="en-US" sz="2800" dirty="0"/>
              <a:t>                     組員 </a:t>
            </a:r>
            <a:r>
              <a:rPr lang="en-US" altLang="zh-TW" sz="2800" dirty="0"/>
              <a:t>:</a:t>
            </a:r>
            <a:r>
              <a:rPr lang="zh-TW" altLang="en-US" sz="2800" dirty="0"/>
              <a:t> 高子淵、魏紹紘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FB2EC616-FBFC-BC25-A35C-B7890B7C3081}"/>
                  </a:ext>
                </a:extLst>
              </p14:cNvPr>
              <p14:cNvContentPartPr/>
              <p14:nvPr/>
            </p14:nvContentPartPr>
            <p14:xfrm>
              <a:off x="11783130" y="3157887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FB2EC616-FBFC-BC25-A35C-B7890B7C30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65130" y="3139887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E26EB7-2C8C-7DFA-DC6E-BA95BB82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1" y="374957"/>
            <a:ext cx="10515600" cy="1325563"/>
          </a:xfrm>
        </p:spPr>
        <p:txBody>
          <a:bodyPr/>
          <a:lstStyle/>
          <a:p>
            <a:r>
              <a:rPr lang="zh-TW" b="1" dirty="0">
                <a:latin typeface="新細明體"/>
                <a:ea typeface="新細明體"/>
              </a:rPr>
              <a:t>遊戲規則</a:t>
            </a:r>
            <a:endParaRPr lang="zh-TW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0CE632-7835-5D9A-0339-BD2C3FE81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157981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4200"/>
              </a:lnSpc>
              <a:buNone/>
            </a:pPr>
            <a:r>
              <a:rPr lang="zh-TW" altLang="en-US" sz="3200" b="1" dirty="0">
                <a:ea typeface="新細明體"/>
              </a:rPr>
              <a:t>核心玩法：</a:t>
            </a:r>
            <a:r>
              <a:rPr lang="zh-TW" altLang="en-US" sz="3200" dirty="0">
                <a:ea typeface="新細明體"/>
              </a:rPr>
              <a:t>玩家需根據網格上的「數字提示」，利用滑鼠</a:t>
            </a:r>
            <a:r>
              <a:rPr lang="en-US" altLang="zh-TW" sz="3200" dirty="0">
                <a:ea typeface="新細明體"/>
              </a:rPr>
              <a:t>/</a:t>
            </a:r>
            <a:r>
              <a:rPr lang="zh-TW" altLang="en-US" sz="3200" dirty="0">
                <a:ea typeface="新細明體"/>
              </a:rPr>
              <a:t>手指拉伸出對應長寬的矩形方塊。</a:t>
            </a:r>
            <a:endParaRPr lang="en-US" altLang="zh-TW" sz="3200" dirty="0">
              <a:ea typeface="新細明體"/>
            </a:endParaRPr>
          </a:p>
          <a:p>
            <a:pPr marL="0" indent="0">
              <a:lnSpc>
                <a:spcPts val="4200"/>
              </a:lnSpc>
              <a:buNone/>
            </a:pPr>
            <a:r>
              <a:rPr lang="zh-TW" altLang="en-US" sz="3200" b="1" dirty="0">
                <a:ea typeface="新細明體"/>
              </a:rPr>
              <a:t>勝利條件： </a:t>
            </a:r>
            <a:r>
              <a:rPr lang="zh-TW" altLang="en-US" sz="3200" dirty="0">
                <a:ea typeface="新細明體"/>
              </a:rPr>
              <a:t>當玩家成功將所有網格填滿，且每個矩形方塊的面積與提示數字完全相符時，即判定通關。</a:t>
            </a:r>
            <a:endParaRPr lang="en-US" altLang="zh-TW" sz="3200" dirty="0">
              <a:ea typeface="新細明體"/>
            </a:endParaRPr>
          </a:p>
          <a:p>
            <a:pPr marL="0" indent="0">
              <a:lnSpc>
                <a:spcPts val="4200"/>
              </a:lnSpc>
              <a:buNone/>
            </a:pPr>
            <a:r>
              <a:rPr lang="zh-TW" altLang="en-US" sz="3200" b="1" dirty="0">
                <a:ea typeface="新細明體"/>
              </a:rPr>
              <a:t>容錯機制： </a:t>
            </a:r>
            <a:r>
              <a:rPr lang="zh-TW" altLang="en-US" sz="3200" dirty="0">
                <a:ea typeface="新細明體"/>
              </a:rPr>
              <a:t>玩家若在解謎過程中發現布局錯誤，系統提供「手動清除」功能，可針對特定區域重新拉伸與布局。</a:t>
            </a:r>
            <a:endParaRPr lang="en-US" altLang="zh-TW" sz="3200" dirty="0">
              <a:ea typeface="新細明體"/>
            </a:endParaRPr>
          </a:p>
          <a:p>
            <a:pPr marL="0" indent="0">
              <a:lnSpc>
                <a:spcPct val="150000"/>
              </a:lnSpc>
              <a:buNone/>
            </a:pPr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8241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31B223-0200-310C-CCA5-56F7A16C9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73" y="1386229"/>
            <a:ext cx="4917831" cy="42927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zh-TW" altLang="en-US" sz="3200" dirty="0">
                <a:ea typeface="新細明體"/>
              </a:rPr>
              <a:t>進入關卡後會有預先設定好的數字做為提示</a:t>
            </a:r>
            <a:endParaRPr lang="en-US" altLang="zh-TW" sz="3200" dirty="0">
              <a:ea typeface="新細明體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15BF53-6FED-25CB-2DC4-EF52FADE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539" y="4251"/>
            <a:ext cx="7091447" cy="685272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594EA7F-2840-B470-8AAC-25C805820162}"/>
              </a:ext>
            </a:extLst>
          </p:cNvPr>
          <p:cNvSpPr txBox="1"/>
          <p:nvPr/>
        </p:nvSpPr>
        <p:spPr>
          <a:xfrm>
            <a:off x="89504" y="20208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細明體"/>
                <a:ea typeface="新細明體"/>
                <a:cs typeface="+mj-cs"/>
              </a:rPr>
              <a:t>遊戲操作流程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55461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08BEC-67F7-5C23-FC0A-DA776C7A3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4" y="1454394"/>
            <a:ext cx="485463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zh-TW" altLang="en-US" sz="3200" dirty="0"/>
              <a:t>透過提示數字想好是哪種長寬的矩形後開始拉伸</a:t>
            </a:r>
            <a:endParaRPr lang="zh-TW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B492C92-BF28-1E8E-633A-D131460B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997" y="2825"/>
            <a:ext cx="7159023" cy="686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6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446709-613E-3CFD-5B9F-592CE7269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27" y="1727995"/>
            <a:ext cx="42563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zh-TW" altLang="en-US" sz="3200" dirty="0"/>
              <a:t>若沒有思考周全會因為空間問題造成無法完全填滿，這時可以手動清除玩家認為布局錯誤的部分</a:t>
            </a:r>
            <a:r>
              <a:rPr lang="en-US" altLang="zh-TW" sz="3200" dirty="0"/>
              <a:t>(</a:t>
            </a:r>
            <a:r>
              <a:rPr lang="zh-TW" altLang="en-US" sz="3200" dirty="0"/>
              <a:t>橘、紫</a:t>
            </a:r>
            <a:r>
              <a:rPr lang="en-US" altLang="zh-TW" sz="3200" dirty="0"/>
              <a:t>)</a:t>
            </a:r>
            <a:r>
              <a:rPr lang="zh-TW" altLang="en-US" sz="3200" dirty="0"/>
              <a:t>進行重設。</a:t>
            </a:r>
            <a:endParaRPr lang="zh-TW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6AE117-AC4D-F817-9C20-972D6CE1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57" y="-2809"/>
            <a:ext cx="7080142" cy="686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9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201789-2B22-F023-27E6-5CC3C7A8D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4" y="1815856"/>
            <a:ext cx="4822371" cy="4351338"/>
          </a:xfrm>
        </p:spPr>
        <p:txBody>
          <a:bodyPr>
            <a:normAutofit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zh-TW" altLang="en-US" sz="3200" dirty="0"/>
              <a:t>只根據玩家手指和數字距離計算當下矩形大小及方位，避免圖中出現不規則形狀的問題發生。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5DDCCE-EBF9-05A1-681A-5A0B19B34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854" y="-12578"/>
            <a:ext cx="7099923" cy="687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4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8C61B2-1571-C3B1-C689-8708D0B8B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28" y="1825160"/>
            <a:ext cx="4495401" cy="4351338"/>
          </a:xfrm>
        </p:spPr>
        <p:txBody>
          <a:bodyPr>
            <a:normAutofit/>
          </a:bodyPr>
          <a:lstStyle/>
          <a:p>
            <a:pPr marL="0" indent="0">
              <a:lnSpc>
                <a:spcPts val="4200"/>
              </a:lnSpc>
              <a:spcBef>
                <a:spcPts val="0"/>
              </a:spcBef>
              <a:buNone/>
            </a:pPr>
            <a:r>
              <a:rPr lang="zh-TW" altLang="en-US" sz="3200" dirty="0"/>
              <a:t>若成功填滿便可以通關</a:t>
            </a:r>
            <a:endParaRPr lang="en-US" altLang="zh-TW" sz="3200" dirty="0"/>
          </a:p>
          <a:p>
            <a:pPr marL="0" indent="0">
              <a:lnSpc>
                <a:spcPts val="4200"/>
              </a:lnSpc>
              <a:spcBef>
                <a:spcPts val="0"/>
              </a:spcBef>
              <a:buNone/>
            </a:pPr>
            <a:r>
              <a:rPr lang="zh-TW" altLang="en-US" sz="3200" dirty="0"/>
              <a:t>會記錄通關時間供玩家參考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1A2F0C-AAC3-0E6B-984D-2AB42084F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24" y="-2807"/>
            <a:ext cx="7051076" cy="686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7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7FE227-9CEB-A4BD-EE28-57405F35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245"/>
            <a:ext cx="10515600" cy="1325563"/>
          </a:xfrm>
        </p:spPr>
        <p:txBody>
          <a:bodyPr/>
          <a:lstStyle/>
          <a:p>
            <a:r>
              <a:rPr lang="zh-TW" altLang="en-US" b="1" dirty="0"/>
              <a:t>範例路徑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8CA6DD-A976-59BC-4F41-D1CDCE6E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705" y="0"/>
            <a:ext cx="708729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F4DA5EE3-8362-627E-ADB3-8C5F6AD9E6E8}"/>
                  </a:ext>
                </a:extLst>
              </p14:cNvPr>
              <p14:cNvContentPartPr/>
              <p14:nvPr/>
            </p14:nvContentPartPr>
            <p14:xfrm>
              <a:off x="7707103" y="609617"/>
              <a:ext cx="17640" cy="192456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F4DA5EE3-8362-627E-ADB3-8C5F6AD9E6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9103" y="591617"/>
                <a:ext cx="53280" cy="19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3F798A4D-C4D9-602F-E98D-1225CF62E21C}"/>
                  </a:ext>
                </a:extLst>
              </p14:cNvPr>
              <p14:cNvContentPartPr/>
              <p14:nvPr/>
            </p14:nvContentPartPr>
            <p14:xfrm>
              <a:off x="8705743" y="388937"/>
              <a:ext cx="1919880" cy="200412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3F798A4D-C4D9-602F-E98D-1225CF62E2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87743" y="370940"/>
                <a:ext cx="1955520" cy="20397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A89D17F1-4161-F6FE-E413-C5110FE7215A}"/>
                  </a:ext>
                </a:extLst>
              </p14:cNvPr>
              <p14:cNvContentPartPr/>
              <p14:nvPr/>
            </p14:nvContentPartPr>
            <p14:xfrm>
              <a:off x="10685383" y="5390417"/>
              <a:ext cx="958320" cy="6156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A89D17F1-4161-F6FE-E413-C5110FE721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67383" y="5372417"/>
                <a:ext cx="9939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0FEF94A9-1607-A233-3183-C89D581C05DE}"/>
                  </a:ext>
                </a:extLst>
              </p14:cNvPr>
              <p14:cNvContentPartPr/>
              <p14:nvPr/>
            </p14:nvContentPartPr>
            <p14:xfrm>
              <a:off x="11355343" y="3648377"/>
              <a:ext cx="497880" cy="180324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0FEF94A9-1607-A233-3183-C89D581C05D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37343" y="3630377"/>
                <a:ext cx="533520" cy="18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732C35DC-3882-1750-D0DF-42FBDDD2C915}"/>
                  </a:ext>
                </a:extLst>
              </p14:cNvPr>
              <p14:cNvContentPartPr/>
              <p14:nvPr/>
            </p14:nvContentPartPr>
            <p14:xfrm>
              <a:off x="7820503" y="3613817"/>
              <a:ext cx="3526920" cy="60552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732C35DC-3882-1750-D0DF-42FBDDD2C9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02503" y="3595817"/>
                <a:ext cx="356256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D3E76496-AC18-D161-3BEE-5C70509F7FC7}"/>
                  </a:ext>
                </a:extLst>
              </p14:cNvPr>
              <p14:cNvContentPartPr/>
              <p14:nvPr/>
            </p14:nvContentPartPr>
            <p14:xfrm>
              <a:off x="7767223" y="6198977"/>
              <a:ext cx="3772080" cy="48024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D3E76496-AC18-D161-3BEE-5C70509F7F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49225" y="6180990"/>
                <a:ext cx="3807717" cy="515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44459156-6E4E-9A07-BD3F-89C997054560}"/>
                  </a:ext>
                </a:extLst>
              </p14:cNvPr>
              <p14:cNvContentPartPr/>
              <p14:nvPr/>
            </p14:nvContentPartPr>
            <p14:xfrm>
              <a:off x="5721343" y="4431737"/>
              <a:ext cx="957240" cy="4464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44459156-6E4E-9A07-BD3F-89C99705456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03343" y="4413737"/>
                <a:ext cx="9928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A6A395CC-4BFC-0F6C-7284-170D65034AE2}"/>
                  </a:ext>
                </a:extLst>
              </p14:cNvPr>
              <p14:cNvContentPartPr/>
              <p14:nvPr/>
            </p14:nvContentPartPr>
            <p14:xfrm>
              <a:off x="5625943" y="323777"/>
              <a:ext cx="1063080" cy="316080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A6A395CC-4BFC-0F6C-7284-170D65034AE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07943" y="305777"/>
                <a:ext cx="1098720" cy="31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4BCFD24A-9E9B-7290-C289-33EF35B73A4F}"/>
                  </a:ext>
                </a:extLst>
              </p14:cNvPr>
              <p14:cNvContentPartPr/>
              <p14:nvPr/>
            </p14:nvContentPartPr>
            <p14:xfrm>
              <a:off x="5556103" y="5521097"/>
              <a:ext cx="879840" cy="78408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4BCFD24A-9E9B-7290-C289-33EF35B73A4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38103" y="5503097"/>
                <a:ext cx="91548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9C1638F1-1601-C7BF-017F-7A391BD7EACC}"/>
                  </a:ext>
                </a:extLst>
              </p14:cNvPr>
              <p14:cNvContentPartPr/>
              <p14:nvPr/>
            </p14:nvContentPartPr>
            <p14:xfrm>
              <a:off x="1262743" y="3639737"/>
              <a:ext cx="360" cy="36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9C1638F1-1601-C7BF-017F-7A391BD7EAC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44743" y="362173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820D4B71-CF76-320D-7F6D-C01C691CD67B}"/>
                  </a:ext>
                </a:extLst>
              </p14:cNvPr>
              <p14:cNvContentPartPr/>
              <p14:nvPr/>
            </p14:nvContentPartPr>
            <p14:xfrm>
              <a:off x="11652481" y="576040"/>
              <a:ext cx="106315" cy="182719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820D4B71-CF76-320D-7F6D-C01C691CD67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634583" y="558045"/>
                <a:ext cx="141753" cy="1862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1849F65E-8278-894F-519B-AF07EBB41887}"/>
                  </a:ext>
                </a:extLst>
              </p14:cNvPr>
              <p14:cNvContentPartPr/>
              <p14:nvPr/>
            </p14:nvContentPartPr>
            <p14:xfrm>
              <a:off x="-1277814" y="679938"/>
              <a:ext cx="11723" cy="11723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1849F65E-8278-894F-519B-AF07EBB418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1863964" y="93788"/>
                <a:ext cx="1172300" cy="11723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12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AEE79-F513-B530-8559-F36896F97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383484"/>
            <a:ext cx="10515600" cy="1325563"/>
          </a:xfrm>
        </p:spPr>
        <p:txBody>
          <a:bodyPr/>
          <a:lstStyle/>
          <a:p>
            <a:r>
              <a:rPr lang="zh-TW" altLang="en-US" b="1" dirty="0"/>
              <a:t>程式運作流程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BBF88D-9AB6-6CE3-4084-0D3C6B9F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679886"/>
            <a:ext cx="1128413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zh-TW" altLang="en-US" dirty="0"/>
              <a:t>初始化遊戲</a:t>
            </a:r>
            <a:endParaRPr lang="en-US" altLang="zh-TW" dirty="0"/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zh-TW" altLang="en-US" dirty="0"/>
              <a:t>載入關卡資料</a:t>
            </a:r>
            <a:endParaRPr lang="en-US" altLang="zh-TW" dirty="0"/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zh-TW" altLang="en-US" dirty="0"/>
              <a:t>切分網格，例如</a:t>
            </a:r>
            <a:r>
              <a:rPr lang="en-US" altLang="zh-TW" dirty="0"/>
              <a:t>7</a:t>
            </a:r>
            <a:r>
              <a:rPr lang="zh-TW" altLang="en-US" dirty="0"/>
              <a:t>*</a:t>
            </a:r>
            <a:r>
              <a:rPr lang="en-US" altLang="zh-TW" dirty="0"/>
              <a:t>7</a:t>
            </a:r>
            <a:r>
              <a:rPr lang="zh-TW" altLang="en-US" dirty="0"/>
              <a:t>單位會變成</a:t>
            </a:r>
            <a:r>
              <a:rPr lang="en-US" altLang="zh-TW" dirty="0"/>
              <a:t>2</a:t>
            </a:r>
            <a:r>
              <a:rPr lang="zh-TW" altLang="en-US" dirty="0"/>
              <a:t>*</a:t>
            </a:r>
            <a:r>
              <a:rPr lang="en-US" altLang="zh-TW" dirty="0"/>
              <a:t>4+1</a:t>
            </a:r>
            <a:r>
              <a:rPr lang="zh-TW" altLang="en-US" dirty="0"/>
              <a:t>*</a:t>
            </a:r>
            <a:r>
              <a:rPr lang="en-US" altLang="zh-TW" dirty="0"/>
              <a:t>3+3</a:t>
            </a:r>
            <a:r>
              <a:rPr lang="zh-TW" altLang="en-US" dirty="0"/>
              <a:t>*</a:t>
            </a:r>
            <a:r>
              <a:rPr lang="en-US" altLang="zh-TW" dirty="0"/>
              <a:t>3+1</a:t>
            </a:r>
            <a:r>
              <a:rPr lang="zh-TW" altLang="en-US" dirty="0"/>
              <a:t>*</a:t>
            </a:r>
            <a:r>
              <a:rPr lang="en-US" altLang="zh-TW" dirty="0"/>
              <a:t>3+2</a:t>
            </a:r>
            <a:r>
              <a:rPr lang="zh-TW" altLang="en-US" dirty="0"/>
              <a:t>*</a:t>
            </a:r>
            <a:r>
              <a:rPr lang="en-US" altLang="zh-TW" dirty="0"/>
              <a:t>1+2</a:t>
            </a:r>
            <a:r>
              <a:rPr lang="zh-TW" altLang="en-US" dirty="0"/>
              <a:t>*</a:t>
            </a:r>
            <a:r>
              <a:rPr lang="en-US" altLang="zh-TW" dirty="0"/>
              <a:t>2+5</a:t>
            </a:r>
            <a:r>
              <a:rPr lang="zh-TW" altLang="en-US" dirty="0"/>
              <a:t>*</a:t>
            </a:r>
            <a:r>
              <a:rPr lang="en-US" altLang="zh-TW" dirty="0"/>
              <a:t>3+5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  <a:r>
              <a:rPr lang="zh-TW" altLang="en-US" dirty="0"/>
              <a:t>共八個矩形並指定隨機顏色</a:t>
            </a:r>
            <a:endParaRPr lang="en-US" altLang="zh-TW" dirty="0"/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zh-TW" altLang="en-US" dirty="0"/>
              <a:t>計算八個矩形的面積</a:t>
            </a:r>
            <a:r>
              <a:rPr lang="en-US" altLang="zh-TW" dirty="0"/>
              <a:t>8,3,9,3,2,4,15,5</a:t>
            </a:r>
            <a:r>
              <a:rPr lang="zh-TW" altLang="en-US" dirty="0"/>
              <a:t>，總和必定為</a:t>
            </a:r>
            <a:r>
              <a:rPr lang="en-US" altLang="zh-TW" dirty="0"/>
              <a:t>49(7</a:t>
            </a:r>
            <a:r>
              <a:rPr lang="zh-TW" altLang="en-US" dirty="0"/>
              <a:t>*</a:t>
            </a:r>
            <a:r>
              <a:rPr lang="en-US" altLang="zh-TW" dirty="0"/>
              <a:t>7)</a:t>
            </a:r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zh-TW" altLang="en-US" dirty="0"/>
              <a:t>將計算結果</a:t>
            </a:r>
            <a:r>
              <a:rPr lang="en-US" altLang="zh-TW" dirty="0"/>
              <a:t>(</a:t>
            </a:r>
            <a:r>
              <a:rPr lang="zh-TW" altLang="en-US" dirty="0"/>
              <a:t>面積大小</a:t>
            </a:r>
            <a:r>
              <a:rPr lang="en-US" altLang="zh-TW" dirty="0"/>
              <a:t>)</a:t>
            </a:r>
            <a:r>
              <a:rPr lang="zh-TW" altLang="en-US" dirty="0"/>
              <a:t>填入每個對應的矩形，位置隨意</a:t>
            </a:r>
            <a:endParaRPr lang="en-US" altLang="zh-TW" dirty="0"/>
          </a:p>
          <a:p>
            <a:pPr marL="514350" indent="-514350">
              <a:lnSpc>
                <a:spcPts val="4000"/>
              </a:lnSpc>
              <a:buFont typeface="+mj-lt"/>
              <a:buAutoNum type="arabicPeriod"/>
            </a:pPr>
            <a:r>
              <a:rPr lang="zh-TW" altLang="en-US" dirty="0">
                <a:ea typeface="新細明體"/>
              </a:rPr>
              <a:t>隱藏有填入計算結果以外的格子顏色，開始關卡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76ED0A-712E-0F46-9F98-D305998E4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553" y="4820965"/>
            <a:ext cx="1711202" cy="165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9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7D85DE-E8A0-FD48-3A97-303008DB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2" y="0"/>
            <a:ext cx="10515600" cy="1325563"/>
          </a:xfrm>
        </p:spPr>
        <p:txBody>
          <a:bodyPr/>
          <a:lstStyle/>
          <a:p>
            <a:r>
              <a:rPr lang="en-US" altLang="zh-TW" b="1" dirty="0"/>
              <a:t>UML</a:t>
            </a:r>
            <a:r>
              <a:rPr lang="zh-TW" altLang="en-US" b="1" dirty="0"/>
              <a:t>圖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64181513-F2F4-0464-E4BC-143C9C83D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1091382"/>
            <a:ext cx="5653548" cy="542694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60BA3A7-7825-AF77-07B0-CD25CE9BAC88}"/>
              </a:ext>
            </a:extLst>
          </p:cNvPr>
          <p:cNvSpPr txBox="1"/>
          <p:nvPr/>
        </p:nvSpPr>
        <p:spPr>
          <a:xfrm>
            <a:off x="6528619" y="388374"/>
            <a:ext cx="5191433" cy="623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TW" sz="2400" b="1" dirty="0"/>
              <a:t>Game (</a:t>
            </a:r>
            <a:r>
              <a:rPr lang="zh-TW" altLang="en-US" sz="2400" b="1" dirty="0"/>
              <a:t>控制與渲染核心</a:t>
            </a:r>
            <a:r>
              <a:rPr lang="en-US" altLang="zh-TW" sz="2400" b="1" dirty="0"/>
              <a:t>)</a:t>
            </a:r>
            <a:r>
              <a:rPr lang="zh-TW" altLang="en-US" sz="2400" b="1" dirty="0"/>
              <a:t>： </a:t>
            </a:r>
            <a:endParaRPr lang="en-US" altLang="zh-TW" sz="2400" b="1" dirty="0"/>
          </a:p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監聽滑鼠行為（拖曳 </a:t>
            </a:r>
            <a:r>
              <a:rPr lang="en-US" altLang="zh-TW" sz="2000" dirty="0"/>
              <a:t>dragging</a:t>
            </a:r>
            <a:r>
              <a:rPr lang="zh-TW" altLang="en-US" sz="2000" dirty="0"/>
              <a:t>、點擊事件），為遊戲的控制器（</a:t>
            </a:r>
            <a:r>
              <a:rPr lang="en-US" altLang="zh-TW" sz="2000" dirty="0"/>
              <a:t>Controller</a:t>
            </a:r>
            <a:r>
              <a:rPr lang="zh-TW" altLang="en-US" sz="2000" dirty="0"/>
              <a:t>）。</a:t>
            </a:r>
            <a:endParaRPr lang="en-US" altLang="zh-TW" sz="2000" dirty="0"/>
          </a:p>
          <a:p>
            <a:pPr>
              <a:lnSpc>
                <a:spcPts val="3500"/>
              </a:lnSpc>
            </a:pPr>
            <a:r>
              <a:rPr lang="en-US" altLang="zh-TW" sz="2400" b="1" dirty="0"/>
              <a:t>Grid (</a:t>
            </a:r>
            <a:r>
              <a:rPr lang="zh-TW" altLang="en-US" sz="2400" b="1" dirty="0"/>
              <a:t>網格邏輯管理器</a:t>
            </a:r>
            <a:r>
              <a:rPr lang="en-US" altLang="zh-TW" sz="2400" b="1" dirty="0"/>
              <a:t>)</a:t>
            </a:r>
            <a:r>
              <a:rPr lang="zh-TW" altLang="en-US" sz="2400" b="1" dirty="0"/>
              <a:t>：</a:t>
            </a:r>
            <a:endParaRPr lang="en-US" altLang="zh-TW" sz="2400" b="1" dirty="0"/>
          </a:p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維護遊戲地圖網格的二維狀態（透過一維 </a:t>
            </a:r>
            <a:r>
              <a:rPr lang="en-US" altLang="zh-TW" sz="2000" dirty="0"/>
              <a:t>vector </a:t>
            </a:r>
            <a:r>
              <a:rPr lang="zh-TW" altLang="en-US" sz="2000" dirty="0"/>
              <a:t>與 </a:t>
            </a:r>
            <a:r>
              <a:rPr lang="en-US" altLang="zh-TW" sz="2000" dirty="0" err="1"/>
              <a:t>idx</a:t>
            </a:r>
            <a:r>
              <a:rPr lang="en-US" altLang="zh-TW" sz="2000" dirty="0"/>
              <a:t>() </a:t>
            </a:r>
            <a:r>
              <a:rPr lang="zh-TW" altLang="en-US" sz="2000" dirty="0"/>
              <a:t>轉換）。</a:t>
            </a:r>
            <a:endParaRPr lang="en-US" altLang="zh-TW" sz="2000" dirty="0"/>
          </a:p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儲存提示字大小（</a:t>
            </a:r>
            <a:r>
              <a:rPr lang="en-US" altLang="zh-TW" sz="2000" dirty="0" err="1"/>
              <a:t>hintValue</a:t>
            </a:r>
            <a:r>
              <a:rPr lang="zh-TW" altLang="en-US" sz="2000" dirty="0"/>
              <a:t>）與判定網格屬於哪一個方塊（</a:t>
            </a:r>
            <a:r>
              <a:rPr lang="en-US" altLang="zh-TW" sz="2000" dirty="0"/>
              <a:t>owner</a:t>
            </a:r>
            <a:r>
              <a:rPr lang="zh-TW" altLang="en-US" sz="2000" dirty="0"/>
              <a:t>）。</a:t>
            </a:r>
            <a:endParaRPr lang="en-US" altLang="zh-TW" sz="2000" dirty="0"/>
          </a:p>
          <a:p>
            <a:pPr>
              <a:lnSpc>
                <a:spcPts val="3500"/>
              </a:lnSpc>
            </a:pPr>
            <a:r>
              <a:rPr lang="en-US" altLang="zh-TW" sz="2400" b="1" dirty="0" err="1"/>
              <a:t>Rect</a:t>
            </a:r>
            <a:r>
              <a:rPr lang="en-US" altLang="zh-TW" sz="2400" b="1" dirty="0"/>
              <a:t> (</a:t>
            </a:r>
            <a:r>
              <a:rPr lang="zh-TW" altLang="en-US" sz="2400" b="1" dirty="0"/>
              <a:t>幾何方塊物件</a:t>
            </a:r>
            <a:r>
              <a:rPr lang="en-US" altLang="zh-TW" sz="2400" b="1" dirty="0"/>
              <a:t>)</a:t>
            </a:r>
            <a:r>
              <a:rPr lang="zh-TW" altLang="en-US" sz="2400" b="1" dirty="0"/>
              <a:t>：</a:t>
            </a:r>
            <a:endParaRPr lang="en-US" altLang="zh-TW" sz="2400" b="1" dirty="0"/>
          </a:p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封裝單一矩形的核心屬性（座標 </a:t>
            </a:r>
            <a:r>
              <a:rPr lang="en-US" altLang="zh-TW" sz="2000" dirty="0" err="1"/>
              <a:t>x,y</a:t>
            </a:r>
            <a:r>
              <a:rPr lang="zh-TW" altLang="en-US" sz="2000" dirty="0"/>
              <a:t>、長寬 </a:t>
            </a:r>
            <a:r>
              <a:rPr lang="en-US" altLang="zh-TW" sz="2000" dirty="0" err="1"/>
              <a:t>w,h</a:t>
            </a:r>
            <a:r>
              <a:rPr lang="zh-TW" altLang="en-US" sz="2000" dirty="0"/>
              <a:t>、</a:t>
            </a:r>
            <a:r>
              <a:rPr lang="en-US" altLang="zh-TW" sz="2000" dirty="0"/>
              <a:t>ID </a:t>
            </a:r>
            <a:r>
              <a:rPr lang="zh-TW" altLang="en-US" sz="2000" dirty="0"/>
              <a:t>與面積）。</a:t>
            </a:r>
            <a:endParaRPr lang="en-US" altLang="zh-TW" sz="2000" dirty="0"/>
          </a:p>
          <a:p>
            <a:pPr marL="342900" indent="-3429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提供 </a:t>
            </a:r>
            <a:r>
              <a:rPr lang="en-US" altLang="zh-TW" sz="2000" dirty="0"/>
              <a:t>area() </a:t>
            </a:r>
            <a:r>
              <a:rPr lang="zh-TW" altLang="en-US" sz="2000" dirty="0"/>
              <a:t>成員函數，供系統即時計算面積是否符合提示。</a:t>
            </a:r>
            <a:endParaRPr lang="en-US" altLang="zh-TW" sz="2000" dirty="0"/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74688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896185-F54F-9674-948A-43C313CD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0" y="276634"/>
            <a:ext cx="10515600" cy="1325563"/>
          </a:xfrm>
        </p:spPr>
        <p:txBody>
          <a:bodyPr/>
          <a:lstStyle/>
          <a:p>
            <a:r>
              <a:rPr lang="zh-TW" altLang="en-US" b="1" dirty="0"/>
              <a:t>程式安裝執行步驟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22A159-D393-19FC-83D2-101959AEC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31" y="3775587"/>
            <a:ext cx="3146323" cy="2359742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1FC1B44-0B9D-5B90-EDCF-D7C0A964D6F3}"/>
              </a:ext>
            </a:extLst>
          </p:cNvPr>
          <p:cNvCxnSpPr>
            <a:cxnSpLocks/>
          </p:cNvCxnSpPr>
          <p:nvPr/>
        </p:nvCxnSpPr>
        <p:spPr>
          <a:xfrm>
            <a:off x="3558756" y="5170538"/>
            <a:ext cx="7010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9809A9F0-1918-522F-BA92-5A30163B8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3775588"/>
            <a:ext cx="2202425" cy="235974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58F765B-1AD1-9680-1093-05466377C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469" y="3587545"/>
            <a:ext cx="2547784" cy="254778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F5C5B64-9017-C4D2-B199-64E70267F1CC}"/>
              </a:ext>
            </a:extLst>
          </p:cNvPr>
          <p:cNvSpPr txBox="1"/>
          <p:nvPr/>
        </p:nvSpPr>
        <p:spPr>
          <a:xfrm>
            <a:off x="356416" y="1602197"/>
            <a:ext cx="84926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2800" dirty="0"/>
              <a:t>專案會使用</a:t>
            </a:r>
            <a:r>
              <a:rPr lang="en-US" altLang="zh-TW" sz="2800" dirty="0"/>
              <a:t>Visual Studio</a:t>
            </a:r>
            <a:r>
              <a:rPr lang="zh-TW" altLang="en-US" sz="2800" dirty="0"/>
              <a:t>作為遊戲主程式開發，並另外下載</a:t>
            </a:r>
            <a:r>
              <a:rPr lang="en-US" altLang="zh-TW" sz="2800" dirty="0"/>
              <a:t>SFML</a:t>
            </a:r>
            <a:r>
              <a:rPr lang="zh-TW" altLang="en-US" sz="2800" dirty="0"/>
              <a:t> </a:t>
            </a:r>
            <a:r>
              <a:rPr lang="en-US" altLang="zh-TW" sz="2800" dirty="0"/>
              <a:t>Graphics(</a:t>
            </a:r>
            <a:r>
              <a:rPr lang="zh-TW" altLang="en-US" sz="2800" dirty="0"/>
              <a:t>負責建立遊戲介面</a:t>
            </a:r>
            <a:r>
              <a:rPr lang="en-US" altLang="zh-TW" sz="2800" dirty="0"/>
              <a:t>)</a:t>
            </a:r>
            <a:r>
              <a:rPr lang="zh-TW" altLang="en-US" sz="2800" dirty="0"/>
              <a:t>做使用，</a:t>
            </a:r>
            <a:r>
              <a:rPr lang="zh-TW" altLang="en-US" sz="2800" dirty="0">
                <a:ea typeface="新細明體"/>
              </a:rPr>
              <a:t>遊戲完成後匯出內涵</a:t>
            </a:r>
            <a:r>
              <a:rPr lang="en-US" altLang="zh-TW" sz="2800" dirty="0" err="1">
                <a:ea typeface="新細明體"/>
              </a:rPr>
              <a:t>EXE和DLL檔案的資料夾</a:t>
            </a:r>
            <a:r>
              <a:rPr lang="zh-TW" altLang="en-US" sz="2800" dirty="0">
                <a:ea typeface="新細明體"/>
              </a:rPr>
              <a:t>即可進行遊戲，另外會協同檔案匯出避免玩家沒有事先安裝</a:t>
            </a:r>
            <a:r>
              <a:rPr lang="en-US" altLang="zh-TW" sz="2800" dirty="0">
                <a:ea typeface="新細明體"/>
              </a:rPr>
              <a:t>C++</a:t>
            </a:r>
            <a:r>
              <a:rPr lang="zh-TW" altLang="en-US" sz="2800" dirty="0">
                <a:ea typeface="新細明體"/>
              </a:rPr>
              <a:t>。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ED0885D-2469-8813-CF1A-BD44F3F75CB0}"/>
              </a:ext>
            </a:extLst>
          </p:cNvPr>
          <p:cNvCxnSpPr>
            <a:stCxn id="9" idx="3"/>
          </p:cNvCxnSpPr>
          <p:nvPr/>
        </p:nvCxnSpPr>
        <p:spPr>
          <a:xfrm flipV="1">
            <a:off x="6469624" y="4955458"/>
            <a:ext cx="85540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0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D7C61-A551-BEF1-A18A-65FC41054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8312"/>
            <a:ext cx="10515600" cy="1325563"/>
          </a:xfrm>
        </p:spPr>
        <p:txBody>
          <a:bodyPr/>
          <a:lstStyle/>
          <a:p>
            <a:r>
              <a:rPr lang="zh-TW" altLang="en-US" b="1" dirty="0"/>
              <a:t>程式截圖畫面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7EBA0CF-FAD8-D802-53CB-39900B00A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8" y="1876097"/>
            <a:ext cx="5510131" cy="348248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5D9095F-4E67-48F1-247F-32BDF73ED9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894" y="191551"/>
            <a:ext cx="5880653" cy="29968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D6202A3-0B99-90CA-6E7F-205F1769B2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40" y="3617338"/>
            <a:ext cx="5775559" cy="25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37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7D5AB-B601-C348-9F9F-7AE48CBB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工作分配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149E8B-8A0E-700D-2F60-D392D398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鄭立渝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Github</a:t>
            </a:r>
            <a:r>
              <a:rPr lang="zh-TW" altLang="en-US" dirty="0"/>
              <a:t>管理、</a:t>
            </a:r>
            <a:r>
              <a:rPr lang="en-US" altLang="zh-TW" dirty="0"/>
              <a:t>Readme</a:t>
            </a:r>
            <a:r>
              <a:rPr lang="zh-TW" altLang="en-US" dirty="0"/>
              <a:t>編輯、</a:t>
            </a:r>
            <a:r>
              <a:rPr lang="en-US" altLang="zh-TW" dirty="0"/>
              <a:t>PPT</a:t>
            </a:r>
            <a:r>
              <a:rPr lang="zh-TW" altLang="en-US" dirty="0"/>
              <a:t>製作、部分程式開發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高子淵</a:t>
            </a:r>
            <a:r>
              <a:rPr lang="en-US" altLang="zh-TW" dirty="0"/>
              <a:t>:</a:t>
            </a:r>
            <a:r>
              <a:rPr lang="zh-TW" altLang="en-US" dirty="0"/>
              <a:t> 主程式開發、邏輯架構、部分</a:t>
            </a:r>
            <a:r>
              <a:rPr lang="en-US" altLang="zh-TW" dirty="0"/>
              <a:t>PPT</a:t>
            </a:r>
            <a:r>
              <a:rPr lang="zh-TW" altLang="en-US" dirty="0"/>
              <a:t>製作</a:t>
            </a:r>
            <a:r>
              <a:rPr lang="en-US" altLang="zh-TW" dirty="0"/>
              <a:t>(</a:t>
            </a:r>
            <a:r>
              <a:rPr lang="zh-TW" altLang="en-US" dirty="0"/>
              <a:t>遊戲說明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魏紹紘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UML</a:t>
            </a:r>
            <a:r>
              <a:rPr lang="zh-TW" altLang="en-US" dirty="0"/>
              <a:t>圖繪製、部分程式開發</a:t>
            </a:r>
          </a:p>
        </p:txBody>
      </p:sp>
    </p:spTree>
    <p:extLst>
      <p:ext uri="{BB962C8B-B14F-4D97-AF65-F5344CB8AC3E}">
        <p14:creationId xmlns:p14="http://schemas.microsoft.com/office/powerpoint/2010/main" val="209636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4C1F2B-D264-C08B-8C15-2F2ECF5F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ea typeface="新細明體"/>
              </a:rPr>
              <a:t>GitHub連結</a:t>
            </a:r>
            <a:endParaRPr lang="zh-TW" altLang="en-US" b="1" dirty="0">
              <a:solidFill>
                <a:srgbClr val="000000"/>
              </a:solidFill>
              <a:ea typeface="新細明體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0F9173-9476-A260-2BB1-B1015C83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TW" dirty="0">
                <a:ea typeface="新細明體"/>
                <a:hlinkClick r:id="rId2"/>
              </a:rPr>
              <a:t>https://github.com/liyu9412/Patches-Game.git</a:t>
            </a:r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128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2A7AA-2893-0691-B805-88312938F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29018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6600" b="1" dirty="0"/>
              <a:t>Thank You!</a:t>
            </a:r>
            <a:endParaRPr lang="zh-TW" alt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248318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572</Words>
  <Application>Microsoft Office PowerPoint</Application>
  <PresentationFormat>寬螢幕</PresentationFormat>
  <Paragraphs>46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新細明體</vt:lpstr>
      <vt:lpstr>Aptos</vt:lpstr>
      <vt:lpstr>Aptos Display</vt:lpstr>
      <vt:lpstr>Arial</vt:lpstr>
      <vt:lpstr>Wingdings</vt:lpstr>
      <vt:lpstr>Office 佈景主題</vt:lpstr>
      <vt:lpstr>Patches幾何填空</vt:lpstr>
      <vt:lpstr>遊戲規則</vt:lpstr>
      <vt:lpstr>PowerPoint 簡報</vt:lpstr>
      <vt:lpstr>PowerPoint 簡報</vt:lpstr>
      <vt:lpstr>PowerPoint 簡報</vt:lpstr>
      <vt:lpstr>PowerPoint 簡報</vt:lpstr>
      <vt:lpstr>PowerPoint 簡報</vt:lpstr>
      <vt:lpstr>範例路徑 </vt:lpstr>
      <vt:lpstr>程式運作流程</vt:lpstr>
      <vt:lpstr>UML圖</vt:lpstr>
      <vt:lpstr>程式安裝執行步驟</vt:lpstr>
      <vt:lpstr>程式截圖畫面</vt:lpstr>
      <vt:lpstr>工作分配</vt:lpstr>
      <vt:lpstr>GitHub連結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鄭立渝</cp:lastModifiedBy>
  <cp:revision>9</cp:revision>
  <dcterms:created xsi:type="dcterms:W3CDTF">2026-04-22T09:43:17Z</dcterms:created>
  <dcterms:modified xsi:type="dcterms:W3CDTF">2026-06-10T16:11:48Z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c31359-ecb0-4331-ac49-239bee8da37f_Enabled">
    <vt:lpwstr>true</vt:lpwstr>
  </property>
  <property fmtid="{D5CDD505-2E9C-101B-9397-08002B2CF9AE}" pid="3" name="MSIP_Label_dfc31359-ecb0-4331-ac49-239bee8da37f_SetDate">
    <vt:lpwstr>2026-04-22T16:57:54Z</vt:lpwstr>
  </property>
  <property fmtid="{D5CDD505-2E9C-101B-9397-08002B2CF9AE}" pid="4" name="MSIP_Label_dfc31359-ecb0-4331-ac49-239bee8da37f_Method">
    <vt:lpwstr>Standard</vt:lpwstr>
  </property>
  <property fmtid="{D5CDD505-2E9C-101B-9397-08002B2CF9AE}" pid="5" name="MSIP_Label_dfc31359-ecb0-4331-ac49-239bee8da37f_Name">
    <vt:lpwstr>defa4170-0d19-0005-0004-bc88714345d2</vt:lpwstr>
  </property>
  <property fmtid="{D5CDD505-2E9C-101B-9397-08002B2CF9AE}" pid="6" name="MSIP_Label_dfc31359-ecb0-4331-ac49-239bee8da37f_SiteId">
    <vt:lpwstr>9e0dd6b1-99a5-4858-ba44-ed1f82d4cf6a</vt:lpwstr>
  </property>
  <property fmtid="{D5CDD505-2E9C-101B-9397-08002B2CF9AE}" pid="7" name="MSIP_Label_dfc31359-ecb0-4331-ac49-239bee8da37f_ActionId">
    <vt:lpwstr>4098a6c6-b9a7-4302-aa84-bbba11753a36</vt:lpwstr>
  </property>
  <property fmtid="{D5CDD505-2E9C-101B-9397-08002B2CF9AE}" pid="8" name="MSIP_Label_dfc31359-ecb0-4331-ac49-239bee8da37f_ContentBits">
    <vt:lpwstr>0</vt:lpwstr>
  </property>
  <property fmtid="{D5CDD505-2E9C-101B-9397-08002B2CF9AE}" pid="9" name="MSIP_Label_dfc31359-ecb0-4331-ac49-239bee8da37f_Tag">
    <vt:lpwstr>10, 3, 0, 1</vt:lpwstr>
  </property>
</Properties>
</file>